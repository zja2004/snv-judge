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基因组变异解读智能体系统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4C8FF"/>
                </a:solidFill>
              </a:rPr>
              <a:t>SNV-judge: 融合基础模型与集成学习的 SNV 致病性预测平台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788920"/>
            <a:ext cx="5760720" cy="36576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开题答辩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B949E"/>
                </a:solidFill>
              </a:rPr>
              <a:t>周嘉诺   |   生物信息学   |   2026年3月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206240"/>
            <a:ext cx="2286000" cy="4572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AUROC 0.9664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4206240"/>
            <a:ext cx="2286000" cy="45720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Evo2-40B + Genos-10B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206240"/>
            <a:ext cx="228600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Kimi AI 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39" y="4206240"/>
            <a:ext cx="2286000" cy="4572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39" y="4206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LangGraph 展望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B949E"/>
                </a:solidFill>
              </a:rPr>
              <a:t>GitHub: zja2004/SNV-judge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02920" cy="146304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25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研究背景与意义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SNV 致病性预测的临床需求与现有方法局限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502920" cy="146304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258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数据集与特征工程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8745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ClinVar 数据处理 · 8维特征矩阵构建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8036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880360"/>
            <a:ext cx="502920" cy="1463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017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模型架构与性能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XGBoost + LightGBM 集成 · AUROC 0.9664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8036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880360"/>
            <a:ext cx="502920" cy="1463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918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0175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方案B：AI 临床报告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35661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Kimi LLM 推理层 · ACMG 证据整合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7200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572000"/>
            <a:ext cx="502920" cy="14630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9834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709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方案C：多智能体展望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57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LangGraph 架构 · 未来研究方向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57200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572000"/>
            <a:ext cx="502920" cy="14630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9834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7091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总结与计划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52578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研究贡献 · 时间规划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研究背景与意义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9496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79EE"/>
                </a:solidFill>
              </a:rPr>
              <a:t>临床痛点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全外显子组测序每次产生 ~20,000 个 SNV，人工逐一解读不可行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现有工具（SIFT、PolyPhen-2）单一维度，准确率有限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基础模型（Evo2、Genos）蕴含丰富进化信息，尚未充分整合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临床报告生成耗时，缺乏 AI 辅助推理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31920"/>
            <a:ext cx="5394960" cy="2468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400"/>
                </a:solidFill>
              </a:rPr>
              <a:t>研究目标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CDCDC"/>
                </a:solidFill>
              </a:rPr>
              <a:t>▸ 构建融合多源特征的高精度 SNV 致病性预测模型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CDCDC"/>
                </a:solidFill>
              </a:rPr>
              <a:t>▸ 集成 Evo2-40B 和 Genos-10B 基础模型特征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CDCDC"/>
                </a:solidFill>
              </a:rPr>
              <a:t>▸ 引入 LLM 推理层，自动生成 ACMG 临床报告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CDCDC"/>
                </a:solidFill>
              </a:rPr>
              <a:t>▸ 展望多智能体架构，实现端到端变异解读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97280"/>
            <a:ext cx="594360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18872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领域现状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79EE"/>
                </a:solidFill>
              </a:rPr>
              <a:t>~20,000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每次 WES 产生 SNV 数量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8346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79EE"/>
                </a:solidFill>
              </a:rPr>
              <a:t>~150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926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每年新增 ClinVar 致病变异 (千)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31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279EE"/>
                </a:solidFill>
              </a:rPr>
              <a:t>0.85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23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现有最优工具 AUROC (单工具)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029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</a:rPr>
              <a:t>0.9664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SNV-judge v4 AUROC (本研究)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数据集与特征工程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Dataset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2743200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C0392B"/>
                </a:solidFill>
              </a:rPr>
              <a:t>4,723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ClinVar 致病变异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097280"/>
            <a:ext cx="274320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2344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</a:rPr>
              <a:t>4,723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ClinVar 良性变异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2743200" cy="109728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344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9400"/>
                </a:solidFill>
              </a:rPr>
              <a:t>7:1.5:1.5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训练 / 验证 / 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109728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097280"/>
            <a:ext cx="2743200" cy="109728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23444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79EE"/>
                </a:solidFill>
              </a:rPr>
              <a:t>8 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特征维度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68880"/>
            <a:ext cx="11612880" cy="4114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8 维特征矩阵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类别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特征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含义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范围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11430000" cy="27432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11430000" cy="3383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383280"/>
            <a:ext cx="54864" cy="338328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38328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79EE"/>
                </a:solidFill>
              </a:rPr>
              <a:t>经典工具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383280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SIFT (inv)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383280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氨基酸替换耐受性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338328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0–1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30752"/>
            <a:ext cx="11430000" cy="338328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730752"/>
            <a:ext cx="54864" cy="338328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730752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79EE"/>
                </a:solidFill>
              </a:rPr>
              <a:t>经典工具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3730752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PolyPhen-2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730752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结构功能影响预测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373075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0–1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078224"/>
            <a:ext cx="11430000" cy="3383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078224"/>
            <a:ext cx="54864" cy="338328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07822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79EE"/>
                </a:solidFill>
              </a:rPr>
              <a:t>经典工具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078224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AlphaMissense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4078224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蛋白质功能影响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4078224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0–1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425696"/>
            <a:ext cx="11430000" cy="338328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425696"/>
            <a:ext cx="54864" cy="338328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425696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279EE"/>
                </a:solidFill>
              </a:rPr>
              <a:t>经典工具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425696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CADD Phred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425696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综合有害性评分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4425696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0–99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773168"/>
            <a:ext cx="11430000" cy="3383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773168"/>
            <a:ext cx="54864" cy="338328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773168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基础模型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4773168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Evo2-40B LLR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4773168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进化语言模型对数似然比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4773168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连续值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120640"/>
            <a:ext cx="11430000" cy="338328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5120640"/>
            <a:ext cx="54864" cy="338328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120640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基础模型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5120640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Genos-10B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0480" y="5120640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基因组基础模型致病性评分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5120640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0–1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5468112"/>
            <a:ext cx="11430000" cy="33832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" y="5468112"/>
            <a:ext cx="54864" cy="3383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5468112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保守性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5468112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phyloP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40480" y="5468112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跨物种进化保守性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546811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-20–30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815584"/>
            <a:ext cx="11430000" cy="338328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65760" y="5815584"/>
            <a:ext cx="54864" cy="33832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7200" y="5815584"/>
            <a:ext cx="12801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59B6"/>
                </a:solidFill>
              </a:rPr>
              <a:t>人群频率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28800" y="5815584"/>
            <a:ext cx="18288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gnomAD AF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40480" y="5815584"/>
            <a:ext cx="45720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人群等位基因频率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5815584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0–1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模型架构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5 / 16</a:t>
            </a:r>
          </a:p>
        </p:txBody>
      </p:sp>
      <p:pic>
        <p:nvPicPr>
          <p:cNvPr id="6" name="Picture 5" descr="figB1_agent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887200" cy="56059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模型性能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6 / 16</a:t>
            </a:r>
          </a:p>
        </p:txBody>
      </p:sp>
      <p:pic>
        <p:nvPicPr>
          <p:cNvPr id="6" name="Picture 5" descr="fig1_ro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943600" cy="2586996"/>
          </a:xfrm>
          <a:prstGeom prst="rect">
            <a:avLst/>
          </a:prstGeom>
        </p:spPr>
      </p:pic>
      <p:pic>
        <p:nvPicPr>
          <p:cNvPr id="7" name="Picture 6" descr="fig2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760720" cy="254861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5989320"/>
            <a:ext cx="2743200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035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AUROC: 0.9664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5989320"/>
            <a:ext cx="2743200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6035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AUPRC: 0.9671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5989320"/>
            <a:ext cx="2743200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6035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79EE"/>
                </a:solidFill>
              </a:rPr>
              <a:t>F1: 0.9201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5989320"/>
            <a:ext cx="2743200" cy="6858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60350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400"/>
                </a:solidFill>
              </a:rPr>
              <a:t>Brier: 0.0612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消融实验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Ablation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7 / 16</a:t>
            </a:r>
          </a:p>
        </p:txBody>
      </p:sp>
      <p:pic>
        <p:nvPicPr>
          <p:cNvPr id="6" name="Picture 5" descr="fig2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303406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097280"/>
            <a:ext cx="466344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18872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关键发现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916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Evo2-40B LLR 贡献最大 (+0.031 AUROC)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Genos-10B 独立贡献 +0.018 AUROC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phyloP 保守性特征 +0.012 AUROC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gnomAD AF 人群频率 +0.009 AUROC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两基础模型协同效应显著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移除任一特征均导致性能下降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493776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结论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53949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CDCDC"/>
                </a:solidFill>
              </a:rPr>
              <a:t>基础模型特征（Evo2 + Genos）是性能提升的核心驱动力，
验证了将大规模预训练模型引入变异解读的有效性。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数据分布与特征分析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Data Distribution &amp; Feature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8 / 16</a:t>
            </a:r>
          </a:p>
        </p:txBody>
      </p:sp>
      <p:pic>
        <p:nvPicPr>
          <p:cNvPr id="6" name="Picture 5" descr="fig3_dat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11887200" cy="40324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方案B：AI 临床报告模块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Plan B: AI Clinical Report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9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48640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核心设计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Kimi (moonshot-v1-32k) 作为推理引擎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OpenAI 兼容 API，流式输出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ACMG 证据自动格式化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SHAP 特征贡献解释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6 节结构化临床报告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Streamlit 实时流式展示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ACMG 证据映射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gnomAD AF &lt; 1e-7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029200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79EE"/>
                </a:solidFill>
              </a:rPr>
              <a:t>→ PM2 (极罕见)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76672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gnomAD AF &gt; 0.05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376672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→ BA1 (常见变异)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24144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phyloP &gt; 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724144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400"/>
                </a:solidFill>
              </a:rPr>
              <a:t>→ PP3 (高度保守)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7161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Evo2 LLR &lt; -1.0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6071616"/>
            <a:ext cx="20116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→ PP3 (进化不利)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097280"/>
            <a:ext cx="603504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1887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59B6"/>
                </a:solidFill>
              </a:rPr>
              <a:t>模块架构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737360"/>
            <a:ext cx="548640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737360"/>
            <a:ext cx="73152" cy="9144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79EE"/>
                </a:solidFill>
              </a:rPr>
              <a:t>用户输入层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2128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变异坐标 + SNV-judge 预测结果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834639"/>
            <a:ext cx="548640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834639"/>
            <a:ext cx="73152" cy="91440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9260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证据格式化层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1012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ACMG 规则映射 · SHAP 排序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749039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931920"/>
            <a:ext cx="548640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3931920"/>
            <a:ext cx="73152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LLM 推理层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4074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Kimi moonshot-v1-32k · T=0.3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4846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5029200"/>
            <a:ext cx="548640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5029200"/>
            <a:ext cx="73152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120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输出层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5046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Markdown 报告 · 流式展示 · 下载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方案B 演示：真实 Kimi API 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Plan B Demo: Real Kimi API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10 / 16</a:t>
            </a:r>
          </a:p>
        </p:txBody>
      </p:sp>
      <p:pic>
        <p:nvPicPr>
          <p:cNvPr id="6" name="Picture 5" descr="figB2_repor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11887200" cy="73573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报告内容结构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AI Report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11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" cy="146304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§1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变异基本信息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基因组坐标 · 基因 · 蛋白质变化 · 转录本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" cy="1463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6002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§2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3258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集成预测结果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74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SNV-judge v4 校准概率 · 置信区间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8036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880360"/>
            <a:ext cx="548640" cy="146304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291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§3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17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多维度证据分析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经典工具 · 基础模型 · 保守性 · 人群频率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8036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880360"/>
            <a:ext cx="548640" cy="1463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291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§4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017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SHAP 特征贡献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5661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按绝对值排序 · 正负贡献可视化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7200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572000"/>
            <a:ext cx="54864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49834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§5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09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综合分类建议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57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ACMG 分类 · 证据汇总 · 强度评级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4572000"/>
            <a:ext cx="54864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572000"/>
            <a:ext cx="548640" cy="1463040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9834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§6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7091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临床意义与局限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2578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临床建议 · 不确定性说明 · 免责声明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方案B 开源实现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Plan B: Open Source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12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61288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2ECC71"/>
                </a:solidFill>
              </a:rPr>
              <a:t>GitHub Commit: affa869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</a:rPr>
              <a:t>"feat: Add Kimi AI clinical report module — Agent reasoning layer"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kimi_report.py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24028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核心模块 (10,738 chars)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BEC8"/>
                </a:solidFill>
              </a:rPr>
              <a:t>generate_report_stream() · generate_report() · check_kimi_available()
ACMG 证据格式化 · 专业系统提示词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54864" cy="91440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79EE"/>
                </a:solidFill>
              </a:rPr>
              <a:t>app.py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4612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Streamlit 前端集成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BEC8"/>
                </a:solidFill>
              </a:rPr>
              <a:t>第三个 Tab: 🤖 AI Clinical Report
流式展示 · API Key 配置面板 · Markdown 下载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06240"/>
            <a:ext cx="1124712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54864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requirements.txt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2519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依赖更新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BEC8"/>
                </a:solidFill>
              </a:rPr>
              <a:t>新增: openai&gt;=1.0.0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54864" cy="91440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README.md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2578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</a:rPr>
              <a:t>文档更新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669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4BEC8"/>
                </a:solidFill>
              </a:rPr>
              <a:t>AI 报告功能说明 · Kimi 集成说明 · 示例输出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方案C 展望：多智能体变异解读系统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Plan C Vision: Multi-Agent Variant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13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方案B vs 方案C 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5212080" cy="548640"/>
          </a:xfrm>
          <a:prstGeom prst="rect">
            <a:avLst/>
          </a:prstGeom>
          <a:solidFill>
            <a:srgbClr val="28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</a:rPr>
              <a:t>维度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783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</a:rPr>
              <a:t>方案B (已实现)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C9C"/>
                </a:solidFill>
              </a:rPr>
              <a:t>方案C (展望)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58568"/>
            <a:ext cx="52120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500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50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静态流水线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5000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LangGraph 多智能体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25496"/>
            <a:ext cx="5212080" cy="54864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9169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推理方式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9169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单次 LLM 调用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91693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自主规划 + 多步推理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92424"/>
            <a:ext cx="52120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8386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工具调用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3483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固定顺序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48386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动态编排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5212080" cy="54864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5079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对话能力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40507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05079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多轮对话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526280"/>
            <a:ext cx="52120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记忆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46177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617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短期 + 长期记忆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093208"/>
            <a:ext cx="5212080" cy="54864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18464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扩展性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18464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需手动添加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1846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插件式 Agent 扩展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660136"/>
            <a:ext cx="5212080" cy="548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75157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批量处理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91640" y="57515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9400"/>
                </a:solidFill>
              </a:rPr>
              <a:t>逐个变异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75157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VCF 批量自动分析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1097280"/>
            <a:ext cx="621792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11887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核心技术栈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1737360"/>
            <a:ext cx="5852160" cy="82296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1737360"/>
            <a:ext cx="54864" cy="8229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1783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</a:rPr>
              <a:t>LangGraph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1783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有状态多智能体编排框架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21945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图结构工作流 · 条件路由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2651760"/>
            <a:ext cx="5852160" cy="82296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0" y="2651760"/>
            <a:ext cx="54864" cy="8229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80760" y="2697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Kimi K2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697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规划 Agent 推理引擎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0760" y="31089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工具调用 · 长上下文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566160"/>
            <a:ext cx="5852160" cy="82296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43600" y="3566160"/>
            <a:ext cx="54864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60" y="36118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Tool Agents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3611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专家工具智能体池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80760" y="40233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VEP · Evo2 · Genos · gnomAD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4480560"/>
            <a:ext cx="5852160" cy="82296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943600" y="4480560"/>
            <a:ext cx="54864" cy="82296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0760" y="45262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400"/>
                </a:solidFill>
              </a:rPr>
              <a:t>向量数据库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4526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知识检索与记忆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60" y="49377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ACMG 指南 · ClinVar 文献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5394960"/>
            <a:ext cx="5852160" cy="82296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5394960"/>
            <a:ext cx="54864" cy="82296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5440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79EE"/>
                </a:solidFill>
              </a:rPr>
              <a:t>流式输出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54406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实时推理过程展示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80760" y="585216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WebSocket · SSE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方案C 架构图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Plan 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14 / 16</a:t>
            </a:r>
          </a:p>
        </p:txBody>
      </p:sp>
      <p:pic>
        <p:nvPicPr>
          <p:cNvPr id="6" name="Picture 5" descr="figB3_plan_c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11887200" cy="673166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研究计划与时间安排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Research Plan &amp;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84048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840480" cy="10972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CC71"/>
                </a:solidFill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2025.09–2026.02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365760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ClinVar 数据集构建与清洗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8维特征矩阵工程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XGBoost + LightGBM 集成模型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Kimi AI 临床报告模块 (方案B)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AUROC 0.9664 性能验证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097280"/>
            <a:ext cx="384048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097280"/>
            <a:ext cx="3840480" cy="109728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400"/>
                </a:solidFill>
              </a:rPr>
              <a:t>进行中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2026.03–2026.06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148840"/>
            <a:ext cx="3657600" cy="27432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模型校准优化 (Platt/Isotonic)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更多变异类型扩展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临床验证数据集测试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Streamlit 前端完善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论文撰写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097280"/>
            <a:ext cx="3840480" cy="5394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097280"/>
            <a:ext cx="3840480" cy="10972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BC9C"/>
                </a:solidFill>
              </a:rPr>
              <a:t>展望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737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</a:rPr>
              <a:t>2026.07–2026.12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148840"/>
            <a:ext cx="3657600" cy="27432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LangGraph 多智能体架构 (方案C)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多轮对话变异解读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批量 VCF 分析流水线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临床试点合作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CDCDC"/>
                </a:solidFill>
              </a:rPr>
              <a:t>▸ 毕业论文提交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DCDC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</a:rPr>
              <a:t>16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279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3152" cy="2011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模型性能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AUROC 0.9664，超越现有单工具方法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融合 Evo2-40B + Genos-10B 基础模型特征，集成 XGBoost + LightGBM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4864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73152" cy="20116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B59B6"/>
                </a:solidFill>
              </a:rPr>
              <a:t>AI 报告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37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Kimi LLM 推理层，自动生成 ACMG 临床报告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方案B已实现并开源，真实 API 验证通过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74720"/>
            <a:ext cx="54864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73152" cy="201168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BC9C"/>
                </a:solidFill>
              </a:rPr>
              <a:t>智能体展望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LangGraph 多智能体架构设计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17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方案C展望：自主规划 · 多轮对话 · 批量分析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474720"/>
            <a:ext cx="54864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474720"/>
            <a:ext cx="73152" cy="2011680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5661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400"/>
                </a:solidFill>
              </a:rPr>
              <a:t>开源贡献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023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GitHub: zja2004/SNV-judge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177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</a:rPr>
              <a:t>完整代码 · 数据处理流程 · Streamlit 演示应用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594360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感谢各位老师的聆听与指导！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