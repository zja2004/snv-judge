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SNV-judge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CFF"/>
                </a:solidFill>
              </a:rPr>
              <a:t>An Ensemble Learning Framework for Missense SNV Pathogenicity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4CDF0"/>
                </a:solidFill>
              </a:rPr>
              <a:t>Integrating Evolutionary Language Models, Conservation Scores,
and Population Allele Frequencies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5029200" cy="36576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Junow Chow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CDF0"/>
                </a:solidFill>
              </a:rPr>
              <a:t>Opening Defense  ·  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71600"/>
            <a:ext cx="2560320" cy="1463040"/>
          </a:xfrm>
          <a:prstGeom prst="rect">
            <a:avLst/>
          </a:prstGeom>
          <a:solidFill>
            <a:srgbClr val="003C82"/>
          </a:solidFill>
          <a:ln w="2540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CFF"/>
                </a:solidFill>
              </a:rPr>
              <a:t>AUROC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7830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9400"/>
                </a:solidFill>
              </a:rPr>
              <a:t>0.9664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4CDF0"/>
                </a:solidFill>
              </a:rPr>
              <a:t>5-fold 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Clinical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Why do we need better missense SNV classifiers?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79EE"/>
                </a:solidFill>
              </a:rPr>
              <a:t>The Clinical 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463040" cy="50292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~4 million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74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8"/>
                </a:solidFill>
              </a:rPr>
              <a:t>missense SNVs per human genome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1463040" cy="50292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~70,000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743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8"/>
                </a:solidFill>
              </a:rPr>
              <a:t>ClinVar missense variants 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1463040" cy="50292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~40%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611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8"/>
                </a:solidFill>
              </a:rPr>
              <a:t>classified as VUS (uncertain significance)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1463040" cy="50292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~3.5%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480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8"/>
                </a:solidFill>
              </a:rPr>
              <a:t>of all SNVs are pathogenic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188720"/>
            <a:ext cx="5943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2801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79EE"/>
                </a:solidFill>
              </a:rPr>
              <a:t>Limitations of Existing Tools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828800"/>
            <a:ext cx="73152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8"/>
                </a:solidFill>
              </a:rPr>
              <a:t>SIFT / PolyPhen-2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0848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82"/>
                </a:solidFill>
              </a:rPr>
              <a:t>Rule-based, no population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697480"/>
            <a:ext cx="73152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697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8"/>
                </a:solidFill>
              </a:rPr>
              <a:t>CADD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953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82"/>
                </a:solidFill>
              </a:rPr>
              <a:t>Trained on proxy negatives, not clinical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566160"/>
            <a:ext cx="73152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566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8"/>
                </a:solidFill>
              </a:rPr>
              <a:t>AlphaMissense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221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82"/>
                </a:solidFill>
              </a:rPr>
              <a:t>Structure-based, misses regulatory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434840"/>
            <a:ext cx="73152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434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8"/>
                </a:solidFill>
              </a:rPr>
              <a:t>Evo2 / Genos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690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82"/>
                </a:solidFill>
              </a:rPr>
              <a:t>Powerful but used in isolation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349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232"/>
                </a:solidFill>
              </a:rPr>
              <a:t>→ No single tool integrates evolutionary LLMs + population AF + conservation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Three core aims of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685800" cy="68580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280160"/>
            <a:ext cx="1051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79EE"/>
                </a:solidFill>
              </a:rPr>
              <a:t>Build a high-performance ensemble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830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8"/>
                </a:solidFill>
              </a:rPr>
              <a:t>Combine classical tools (SIFT, PolyPhen-2, CADD, AlphaMissense) with
evolutionary LLMs (Evo2-40B, Genos-10B), phyloP conservation, and gnomAD AF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685800" cy="68580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260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926080"/>
            <a:ext cx="1051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79EE"/>
                </a:solidFill>
              </a:rPr>
              <a:t>Quantify each feature's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290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8"/>
                </a:solidFill>
              </a:rPr>
              <a:t>Systematic ablation study + SHAP analysis to understand which signals
drive pathogenicity prediction and when each feature matters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72000"/>
            <a:ext cx="685800" cy="68580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572000"/>
            <a:ext cx="1051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663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79EE"/>
                </a:solidFill>
              </a:rPr>
              <a:t>Deploy as a clinical-grade web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74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8"/>
                </a:solidFill>
              </a:rPr>
              <a:t>Real-time variant scoring via Streamlit app with per-feature SHAP
explanations, batch VCF processing, and calibrated probability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2,000 ClinVar missense SNVs across 547 genes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pic>
        <p:nvPicPr>
          <p:cNvPr id="8" name="Picture 7" descr="fig3_dat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3939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87882"/>
                </a:solidFill>
              </a:rPr>
              <a:t>Source: ClinVar (2024) · Pathogenic/Likely Pathogenic vs Benign/Likely Benign · GRCh38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Multi-source feature extraction → stacking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pic>
        <p:nvPicPr>
          <p:cNvPr id="8" name="Picture 7" descr="fig4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3834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01200" y="5760720"/>
            <a:ext cx="2286000" cy="594360"/>
          </a:xfrm>
          <a:prstGeom prst="rect">
            <a:avLst/>
          </a:prstGeom>
          <a:solidFill>
            <a:srgbClr val="0279EE"/>
          </a:solidFill>
          <a:ln w="1905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57607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 features  ·  2,000 variants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8 complementary signals capturing different biological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91440" cy="1627632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79EE"/>
                </a:solidFill>
              </a:rPr>
              <a:t>Classical Annotation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28"/>
                </a:solidFill>
              </a:rPr>
              <a:t>• SIFT (inv)  — amino acid substitution tolerance (sequence homology)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28"/>
                </a:solidFill>
              </a:rPr>
              <a:t>• PolyPhen-2  — structural/functional impact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28"/>
                </a:solidFill>
              </a:rPr>
              <a:t>• AlphaMissense  — AF2 structure-based pathogenicity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88336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28"/>
                </a:solidFill>
              </a:rPr>
              <a:t>• CADD  — combined annotation-dependent depletion (phred-scaled)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27832"/>
            <a:ext cx="91440" cy="859536"/>
          </a:xfrm>
          <a:prstGeom prst="rect">
            <a:avLst/>
          </a:prstGeom>
          <a:solidFill>
            <a:srgbClr val="75A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278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A025"/>
                </a:solidFill>
              </a:rPr>
              <a:t>Evolutionary 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7530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28"/>
                </a:solidFill>
              </a:rPr>
              <a:t>• Evo2-40B LLR  — log-likelihood ratio from 40B-param genomic LLM (NVIDIA NIM)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5935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28"/>
                </a:solidFill>
              </a:rPr>
              <a:t>• Genos-10B  — human-specific pathogenicity score (Stomics Cloud)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98848"/>
            <a:ext cx="91440" cy="859536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988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Population &amp; Conservation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28"/>
                </a:solidFill>
              </a:rPr>
              <a:t>• gnomAD log-AF  — log₁₀(allele frequency + ε) from gnomAD v4 (37% coverage)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30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28"/>
                </a:solidFill>
              </a:rPr>
              <a:t>• phyloP  — vertebrate conservation score from Ensembl VEP (96% coverage)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AUROC = 0.9664 — best-in-class on held-out 5-fold CV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pic>
        <p:nvPicPr>
          <p:cNvPr id="8" name="Picture 7" descr="fig1_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5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5989320"/>
            <a:ext cx="11612880" cy="502920"/>
          </a:xfrm>
          <a:prstGeom prst="rect">
            <a:avLst/>
          </a:prstGeom>
          <a:solidFill>
            <a:srgbClr val="FFF5DC"/>
          </a:solidFill>
          <a:ln w="1270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076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65000"/>
                </a:solidFill>
              </a:rPr>
              <a:t>Key result: SNV-judge v4 outperforms AlphaMissense by +0.0388 AUROC and CADD by +0.0738 AUROC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Quantifying each feature group's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pic>
        <p:nvPicPr>
          <p:cNvPr id="8" name="Picture 7" descr="fig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4386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79EE"/>
                </a:solidFill>
              </a:rPr>
              <a:t>Key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828800"/>
            <a:ext cx="3291840" cy="1188720"/>
          </a:xfrm>
          <a:prstGeom prst="rect">
            <a:avLst/>
          </a:prstGeom>
          <a:solidFill>
            <a:srgbClr val="F5F8FF"/>
          </a:solidFill>
          <a:ln w="1905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874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gnomAD 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8745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9400"/>
                </a:solidFill>
              </a:rPr>
              <a:t>+0.0162 AUROC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402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1E28"/>
                </a:solidFill>
              </a:rPr>
              <a:t>Strongest single feature;
common variants → benign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200400"/>
            <a:ext cx="3291840" cy="1188720"/>
          </a:xfrm>
          <a:prstGeom prst="rect">
            <a:avLst/>
          </a:prstGeom>
          <a:solidFill>
            <a:srgbClr val="F5F8FF"/>
          </a:solidFill>
          <a:ln w="19050">
            <a:solidFill>
              <a:srgbClr val="75A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246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A025"/>
                </a:solidFill>
              </a:rPr>
              <a:t>phyloP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2461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75A025"/>
                </a:solidFill>
              </a:rPr>
              <a:t>+0.0035 AUROC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6118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1E28"/>
                </a:solidFill>
              </a:rPr>
              <a:t>Evolutionary constraint;
96%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572000"/>
            <a:ext cx="3291840" cy="1188720"/>
          </a:xfrm>
          <a:prstGeom prst="rect">
            <a:avLst/>
          </a:prstGeom>
          <a:solidFill>
            <a:srgbClr val="F5F8FF"/>
          </a:solidFill>
          <a:ln w="19050">
            <a:solidFill>
              <a:srgbClr val="027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4617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79EE"/>
                </a:solidFill>
              </a:rPr>
              <a:t>Evo2 + Genos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617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279EE"/>
                </a:solidFill>
              </a:rPr>
              <a:t>+0.0048 AUROC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9834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1E28"/>
                </a:solidFill>
              </a:rPr>
              <a:t>Orthogonal to classical;
needed for novel variants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Importance (SHAP)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gnomAD AF and AlphaMissense dominate; phyloP adds conservation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pic>
        <p:nvPicPr>
          <p:cNvPr id="8" name="Picture 7" descr="shap_analysis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0631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Real-time variant scoring with SHAP explanations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029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79EE"/>
                </a:solidFill>
              </a:rPr>
              <a:t>App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4864" cy="2743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8"/>
                </a:solidFill>
              </a:rPr>
              <a:t>Single variant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882"/>
                </a:solidFill>
              </a:rPr>
              <a:t>Chromosome, position, ref/alt alleles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54864" cy="2743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8"/>
                </a:solidFill>
              </a:rPr>
              <a:t>Batch VCF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882"/>
                </a:solidFill>
              </a:rPr>
              <a:t>Upload .vcf file, score all variants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4864" cy="2743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8"/>
                </a:solidFill>
              </a:rPr>
              <a:t>Real-time API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882"/>
                </a:solidFill>
              </a:rPr>
              <a:t>Evo2, Genos, VEP, gnomAD fetched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54864" cy="2743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8"/>
                </a:solidFill>
              </a:rPr>
              <a:t>SHAP waterfall 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4904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882"/>
                </a:solidFill>
              </a:rPr>
              <a:t>Per-variant feature contribution bars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54864" cy="2743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8"/>
                </a:solidFill>
              </a:rPr>
              <a:t>Calibrated probability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882"/>
                </a:solidFill>
              </a:rPr>
              <a:t>Platt-scaled pathogenicity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4864" cy="2743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8"/>
                </a:solidFill>
              </a:rPr>
              <a:t>Model fallback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882"/>
                </a:solidFill>
              </a:rPr>
              <a:t>v4 → v3 → v2 → v1 graceful degradation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12080"/>
            <a:ext cx="54864" cy="2743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8"/>
                </a:solidFill>
              </a:rPr>
              <a:t>Raw scores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9496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882"/>
                </a:solidFill>
              </a:rPr>
              <a:t>All 8 feature values shown to 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1188720"/>
            <a:ext cx="6309360" cy="22860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400"/>
                </a:solidFill>
              </a:rPr>
              <a:t>github.com/zja2004/SNV-judge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192024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2E6"/>
                </a:solidFill>
              </a:rPr>
              <a:t>Open-source · MIT License
Streamlit · Python 3.10
XGBoost + LightGBM stacking
All pre-computed scores included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657600"/>
            <a:ext cx="6309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7490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79EE"/>
                </a:solidFill>
              </a:rPr>
              <a:t>Deployment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Frontend:  Streamlit (Python)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5537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ML:  XGBoost + LightGBM + Logistic Regression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90118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APIs:  NVIDIA NIM · Stomics Cloud · Ensembl VEP · gnomAD GraphQL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24865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Explainability:  SHAP (TreeExplainer)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55961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Calibration:  Platt scaling (LogisticRegression)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Robustness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Performance on novel variants absent from gnomAD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1430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Sensitivity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Specificity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91640"/>
            <a:ext cx="11430000" cy="77724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8"/>
                </a:solidFill>
              </a:rPr>
              <a:t>Full model (v4)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874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400"/>
                </a:solidFill>
              </a:rPr>
              <a:t>0.9664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874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28"/>
                </a:solidFill>
              </a:rPr>
              <a:t>0.901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874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28"/>
                </a:solidFill>
              </a:rPr>
              <a:t>0.893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874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87882"/>
                </a:solidFill>
              </a:rPr>
              <a:t>All 8 features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14600"/>
            <a:ext cx="11430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603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8"/>
                </a:solidFill>
              </a:rPr>
              <a:t>Novel variants
(gnomAD AF = NaN)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697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6400"/>
                </a:solidFill>
              </a:rPr>
              <a:t>0.9502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97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28"/>
                </a:solidFill>
              </a:rPr>
              <a:t>0.882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697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28"/>
                </a:solidFill>
              </a:rPr>
              <a:t>0.877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97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87882"/>
                </a:solidFill>
              </a:rPr>
              <a:t>−0.0162 AUROC; graceful degradation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37560"/>
            <a:ext cx="11430000" cy="77724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3832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8"/>
                </a:solidFill>
              </a:rPr>
              <a:t>No API keys
(6 features)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520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5A025"/>
                </a:solidFill>
              </a:rPr>
              <a:t>0.9616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520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28"/>
                </a:solidFill>
              </a:rPr>
              <a:t>0.893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520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28"/>
                </a:solidFill>
              </a:rPr>
              <a:t>0.886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87882"/>
                </a:solidFill>
              </a:rPr>
              <a:t>−0.0048 AUROC; still competitive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160520"/>
            <a:ext cx="11430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206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8"/>
                </a:solidFill>
              </a:rPr>
              <a:t>AlphaMissense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343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87882"/>
                </a:solidFill>
              </a:rPr>
              <a:t>0.9276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343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28"/>
                </a:solidFill>
              </a:rPr>
              <a:t>0.856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343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28"/>
                </a:solidFill>
              </a:rPr>
              <a:t>0.851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343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87882"/>
                </a:solidFill>
              </a:rPr>
              <a:t>Best single-tool 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79EE"/>
                </a:solidFill>
              </a:rPr>
              <a:t>Conclusion: Model degrades gracefully when gnomAD AF is unavailable — suitable for novel variant interpretation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F"/>
                </a:solidFill>
              </a:rPr>
              <a:t>Planned extensions for the full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5A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43200" cy="594360"/>
          </a:xfrm>
          <a:prstGeom prst="rect">
            <a:avLst/>
          </a:prstGeom>
          <a:solidFill>
            <a:srgbClr val="75A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
(Done)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A025"/>
                </a:solidFill>
              </a:rPr>
              <a:t>Model v4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8-feature stacking ensemble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AUROC 0.9664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Web app 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GitHub open-source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8872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2
(Q2 2026)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Expand training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Scale to 10,000+ ClinVar variants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Add splicing variants (SpliceAI)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Incorporate structural context (ESMFold)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Cross-dataset validation (HGMD)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8872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7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3
(Q3 2026)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79EE"/>
                </a:solidFill>
              </a:rPr>
              <a:t>Clinical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Prospective cohort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Rare disease patient cohort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Comparison with clinical lab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ACMG criteria 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118872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6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1188720"/>
            <a:ext cx="2743200" cy="594360"/>
          </a:xfrm>
          <a:prstGeom prst="rect">
            <a:avLst/>
          </a:prstGeom>
          <a:solidFill>
            <a:srgbClr val="96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1188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4
(Q4 2026)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63296"/>
                </a:solidFill>
              </a:rPr>
              <a:t>Thesis completion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Full manuscript writing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Peer review submission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Final defense preparation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8"/>
                </a:solidFill>
              </a:rPr>
              <a:t>• Tool publication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82"/>
                </a:solidFill>
              </a:rPr>
              <a:t>SNV-judge v4 | Opening Defense | Junow Chow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3657600" cy="457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0972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400"/>
                </a:solidFill>
              </a:rPr>
              <a:t>AUROC 0.9664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0"/>
                </a:solidFill>
              </a:rPr>
              <a:t>Best-in-class performance on 2,000 ClinVar missense SNVs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116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400"/>
                </a:solidFill>
              </a:rPr>
              <a:t>8 complementary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591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0"/>
                </a:solidFill>
              </a:rPr>
              <a:t>Classical tools + LLMs + conservation + population AF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260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400"/>
                </a:solidFill>
              </a:rPr>
              <a:t>gnomAD AF is the key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0"/>
                </a:solidFill>
              </a:rPr>
              <a:t>+0.0162 AUROC; common variants are almost always benign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404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400"/>
                </a:solidFill>
              </a:rPr>
              <a:t>Robust to missing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879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0"/>
                </a:solidFill>
              </a:rPr>
              <a:t>AUROC 0.9502 even for novel variants absent from gnomAD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754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400"/>
                </a:solidFill>
              </a:rPr>
              <a:t>Open-source &amp; deployed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023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0"/>
                </a:solidFill>
              </a:rPr>
              <a:t>github.com/zja2004/SNV-judge · Streamlit web 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5303520"/>
            <a:ext cx="3200400" cy="1280160"/>
          </a:xfrm>
          <a:prstGeom prst="rect">
            <a:avLst/>
          </a:prstGeom>
          <a:solidFill>
            <a:srgbClr val="003278"/>
          </a:solidFill>
          <a:ln w="2540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400"/>
                </a:solidFill>
              </a:rPr>
              <a:t>SNV-judge v4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669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AUROC = 0.9664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126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CDF0"/>
                </a:solidFill>
              </a:rPr>
              <a:t>AUPRC = 0.9671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